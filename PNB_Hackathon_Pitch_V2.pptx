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🛡️ PNB Quantum-Proof Cryptographic Scanner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Quantum-Ready Cybersecurity for Future-Safe Banking</a:t>
            </a:r>
          </a:p>
          <a:p>
            <a:r>
              <a:t>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>
                <a:latin typeface="Arial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>
                <a:latin typeface="Arial"/>
              </a:rPr>
              <a:t>Why does this problem exist?</a:t>
            </a:r>
          </a:p>
          <a:p>
            <a:pPr lvl="1"/>
            <a:r>
              <a:rPr sz="1200">
                <a:latin typeface="Arial"/>
              </a:rPr>
              <a:t>  - Adversaries are harvesting encrypted data today to decrypt later when quantum computers arrive (HNDL attacks).</a:t>
            </a:r>
          </a:p>
          <a:p>
            <a:pPr lvl="1"/>
            <a:r>
              <a:rPr sz="1200">
                <a:latin typeface="Arial"/>
              </a:rPr>
              <a:t>  - Current classical encryption (RSA, ECC) will be broken by Shor's Algorithm.</a:t>
            </a:r>
          </a:p>
          <a:p>
            <a:pPr/>
            <a:r>
              <a:rPr sz="1200">
                <a:latin typeface="Arial"/>
              </a:rPr>
              <a:t>Who is affected by it?</a:t>
            </a:r>
          </a:p>
          <a:p>
            <a:pPr lvl="1"/>
            <a:r>
              <a:rPr sz="1200">
                <a:latin typeface="Arial"/>
              </a:rPr>
              <a:t>  - Banks (like PNB), financial institutions, and their customers whose sensitive data is exposed online.</a:t>
            </a:r>
          </a:p>
          <a:p>
            <a:pPr/>
            <a:r>
              <a:rPr sz="1200">
                <a:latin typeface="Arial"/>
              </a:rPr>
              <a:t>What are the consequences if it remains unresolved?</a:t>
            </a:r>
          </a:p>
          <a:p>
            <a:pPr lvl="1"/>
            <a:r>
              <a:rPr sz="1200">
                <a:latin typeface="Arial"/>
              </a:rPr>
              <a:t>  - Complete exposure of historical transactions, customer PII, and credentials.</a:t>
            </a:r>
          </a:p>
          <a:p>
            <a:pPr lvl="1"/>
            <a:r>
              <a:rPr sz="1200">
                <a:latin typeface="Arial"/>
              </a:rPr>
              <a:t>  - Severe regulatory penalties and loss of customer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>
                <a:latin typeface="Arial"/>
              </a:rPr>
              <a:t>Proposed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>
                <a:latin typeface="Arial"/>
              </a:rPr>
              <a:t>What is your idea?</a:t>
            </a:r>
          </a:p>
          <a:p>
            <a:pPr lvl="1"/>
            <a:r>
              <a:rPr sz="1200">
                <a:latin typeface="Arial"/>
              </a:rPr>
              <a:t>  - A full-stack software scanner that validates deployment of quantum-proof ciphers across public-facing apps.</a:t>
            </a:r>
          </a:p>
          <a:p>
            <a:pPr/>
            <a:r>
              <a:rPr sz="1200">
                <a:latin typeface="Arial"/>
              </a:rPr>
              <a:t>How does it address the problem?</a:t>
            </a:r>
          </a:p>
          <a:p>
            <a:pPr lvl="1"/>
            <a:r>
              <a:rPr sz="1200">
                <a:latin typeface="Arial"/>
              </a:rPr>
              <a:t>  - Discovers crypto inventory (TLS, VPN, APIs), checks algorithms against NIST PQC standards, and generates a standardized CBOM.</a:t>
            </a:r>
          </a:p>
          <a:p>
            <a:pPr/>
            <a:r>
              <a:rPr sz="1200">
                <a:latin typeface="Arial"/>
              </a:rPr>
              <a:t>Why is it innovative or unique?</a:t>
            </a:r>
          </a:p>
          <a:p>
            <a:pPr lvl="1"/>
            <a:r>
              <a:rPr sz="1200">
                <a:latin typeface="Arial"/>
              </a:rPr>
              <a:t>  - Calculates exact HNDL Risk Timelines (when specific data will be broken vs. its shelf life).</a:t>
            </a:r>
          </a:p>
          <a:p>
            <a:pPr lvl="1"/>
            <a:r>
              <a:rPr sz="1200">
                <a:latin typeface="Arial"/>
              </a:rPr>
              <a:t>  - Provides actionable migration recommendations and assigns visual 'Quantum-Safe'/'PQC Ready' badges.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>
                <a:latin typeface="Arial"/>
              </a:rPr>
              <a:t>Technical Implementation: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>
                <a:latin typeface="Arial"/>
              </a:rPr>
              <a:t>Backend Frameworks:</a:t>
            </a:r>
          </a:p>
          <a:p>
            <a:pPr lvl="1"/>
            <a:r>
              <a:rPr sz="1200">
                <a:latin typeface="Arial"/>
              </a:rPr>
              <a:t>  - Python 3.12, FastAPI (for scalable REST APIs).</a:t>
            </a:r>
          </a:p>
          <a:p>
            <a:pPr lvl="1"/>
            <a:r>
              <a:rPr sz="1200">
                <a:latin typeface="Arial"/>
              </a:rPr>
              <a:t>  - sslyze &amp; cryptography libraries (for deep TLS probing and certificate extraction).</a:t>
            </a:r>
          </a:p>
          <a:p>
            <a:pPr/>
            <a:r>
              <a:rPr sz="1200">
                <a:latin typeface="Arial"/>
              </a:rPr>
              <a:t>Frontend Frameworks:</a:t>
            </a:r>
          </a:p>
          <a:p>
            <a:pPr lvl="1"/>
            <a:r>
              <a:rPr sz="1200">
                <a:latin typeface="Arial"/>
              </a:rPr>
              <a:t>  - React 19, Vite 7, TailwindCSS 4.</a:t>
            </a:r>
          </a:p>
          <a:p>
            <a:pPr lvl="1"/>
            <a:r>
              <a:rPr sz="1200">
                <a:latin typeface="Arial"/>
              </a:rPr>
              <a:t>  - Recharts (for dynamic risk distribution dashboards).</a:t>
            </a:r>
          </a:p>
          <a:p>
            <a:pPr/>
            <a:r>
              <a:rPr sz="1200">
                <a:latin typeface="Arial"/>
              </a:rPr>
              <a:t>Data &amp; Standards:</a:t>
            </a:r>
          </a:p>
          <a:p>
            <a:pPr lvl="1"/>
            <a:r>
              <a:rPr sz="1200">
                <a:latin typeface="Arial"/>
              </a:rPr>
              <a:t>  - SQLite (portable, zero-config database).</a:t>
            </a:r>
          </a:p>
          <a:p>
            <a:pPr lvl="1"/>
            <a:r>
              <a:rPr sz="1200">
                <a:latin typeface="Arial"/>
              </a:rPr>
              <a:t>  - CycloneDX v1.6 (for standard Cryptographic Bill of Materials - CBOM).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>
                <a:latin typeface="Arial"/>
              </a:rPr>
              <a:t>Technical Implementation: Architecture &amp; Dataflow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>
                <a:latin typeface="Arial"/>
              </a:rPr>
              <a:t>1. User Input: User provides target hostnames/IPs (single or bulk CSV upload) via React Dashboard.</a:t>
            </a:r>
          </a:p>
          <a:p>
            <a:pPr/>
            <a:r>
              <a:rPr sz="1200">
                <a:latin typeface="Arial"/>
              </a:rPr>
              <a:t>2. Parallel Scanning: FastAPI Backend uses ThreadPoolExecutor to run TLS Scanners concurrently.</a:t>
            </a:r>
          </a:p>
          <a:p>
            <a:pPr/>
            <a:r>
              <a:rPr sz="1200">
                <a:latin typeface="Arial"/>
              </a:rPr>
              <a:t>3. Data Extraction: sslyze extracts certs, cipher suites, key exchange, and TLS versions.</a:t>
            </a:r>
          </a:p>
          <a:p>
            <a:pPr/>
            <a:r>
              <a:rPr sz="1200">
                <a:latin typeface="Arial"/>
              </a:rPr>
              <a:t>4. Analysis Engine: PQC Classifier evaluates against NIST FIPS 203-206. Scoring Engine computes 0-100 score.</a:t>
            </a:r>
          </a:p>
          <a:p>
            <a:pPr/>
            <a:r>
              <a:rPr sz="1200">
                <a:latin typeface="Arial"/>
              </a:rPr>
              <a:t>5. Output Generation: System generates CycloneDX CBOM, HTML reports, and visual badges stored in SQLite.</a:t>
            </a:r>
          </a:p>
          <a:p>
            <a:pPr/>
            <a:r>
              <a:rPr sz="1200">
                <a:latin typeface="Arial"/>
              </a:rPr>
              <a:t>6. Visualization: React frontend fetches results to display interactive compliance and risk dashboards.</a:t>
            </a:r>
          </a:p>
          <a:p>
            <a:pPr/>
            <a:r>
              <a:rPr sz="1200">
                <a:latin typeface="Arial"/>
              </a:rPr>
              <a:t>[PLACEHOLDER: Insert Architecture Diagram from Readme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>
                <a:latin typeface="Arial"/>
              </a:rPr>
              <a:t>Technical Implementation: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>
                <a:latin typeface="Arial"/>
              </a:rPr>
              <a:t>Automated TLS Scanning: Probes TLS 1.0–1.3 to extract full cryptographic configurations.</a:t>
            </a:r>
          </a:p>
          <a:p>
            <a:pPr/>
            <a:r>
              <a:rPr sz="1200">
                <a:latin typeface="Arial"/>
              </a:rPr>
              <a:t>Quantum Readiness Scoring: Weighted 0-100 score based on KEX, Signatures, Ciphers, and TLS versions.</a:t>
            </a:r>
          </a:p>
          <a:p>
            <a:pPr/>
            <a:r>
              <a:rPr sz="1200">
                <a:latin typeface="Arial"/>
              </a:rPr>
              <a:t>HNDL Risk Timeline Calculator: Projects when specific banking data will become vulnerable.</a:t>
            </a:r>
          </a:p>
          <a:p>
            <a:pPr/>
            <a:r>
              <a:rPr sz="1200">
                <a:latin typeface="Arial"/>
              </a:rPr>
              <a:t>Regulatory Compliance Checker: Automated mapping to RBI IT Framework, CERT-In, and PCI-DSS v4.</a:t>
            </a:r>
          </a:p>
          <a:p>
            <a:pPr/>
            <a:r>
              <a:rPr sz="1200">
                <a:latin typeface="Arial"/>
              </a:rPr>
              <a:t>Bulk Output &amp; Reporting: Produces CycloneDX CBOMs, SVG Badges, and print-ready HTML audits.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